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20" d="100"/>
          <a:sy n="220" d="100"/>
        </p:scale>
        <p:origin x="-41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645920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1691640"/>
            <a:ext cx="1280160" cy="54864"/>
          </a:xfrm>
          <a:prstGeom prst="rect">
            <a:avLst/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Agent 시스템 설계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질의 기반 사내 MCP 자동 오케스트레이션 Agent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  ·  AI Agent Architecture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자료의 구성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911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25880" y="1911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및 전체 흐름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2221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목적, 예시 질문, End-to-End 파이프라인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801368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19110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440680" y="1911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 처리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40680" y="2221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Query 분석, Intent Parser 구조화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2734056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2843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325880" y="28437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탐색 및 계획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기반 Tool Retrieval, LLM Tool Planning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2734056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00600" y="2843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440680" y="28437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엔진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406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DAG, Executor Engine, MCP 호출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666744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5800" y="3776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1325880" y="3776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처리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25880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Aggregator, Final LLM Response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63440" y="3666744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800600" y="3776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440680" y="3776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고려사항 및 결론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440680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· Observability · 장애대응 · 기대효과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및 전체 흐름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질의를 사내 MCP 호출로 변환하는 Agent의 전체 파이프라인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 · 개요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목적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시스템을 모르고, Agent는 모든 것을 안다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시스템의 역할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자연어 질문을 분석하여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등록된 100여개 MCP 중 적합한 Tool 선택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의존 관계를 고려한 실행 순서 결정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결과를 통합·해석하여 사용자 친화적 응답 반환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4632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 QUERY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4632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 예시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606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“AA라인의 BB공정에서 만들어진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웨이퍼의 이번 달 수율을 알려줘”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구조를 모름 · API 명을 모름 · 공정 흐름을 모름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업무 용어만 사용하면 되고, Agent가 시스템 복잡성을 모두 흡수한다.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 · 개요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파이프라인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Query → Final Response 전체 흐름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0352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 rot="2700000">
            <a:off x="1435608" y="2596896"/>
            <a:ext cx="109728" cy="109728"/>
          </a:xfrm>
          <a:prstGeom prst="lin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63624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563624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91056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Parser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 rot="2700000">
            <a:off x="2496312" y="2596896"/>
            <a:ext cx="109728" cy="109728"/>
          </a:xfrm>
          <a:prstGeom prst="lin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24328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624328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651760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Retrieval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(RAG)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 rot="2700000">
            <a:off x="3557016" y="2596896"/>
            <a:ext cx="109728" cy="109728"/>
          </a:xfrm>
          <a:prstGeom prst="lin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85032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85032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12464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Tool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 rot="2700000">
            <a:off x="4617720" y="2596896"/>
            <a:ext cx="109728" cy="109728"/>
          </a:xfrm>
          <a:prstGeom prst="lin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45736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745736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773168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DAG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 rot="2700000">
            <a:off x="5678424" y="2596896"/>
            <a:ext cx="109728" cy="109728"/>
          </a:xfrm>
          <a:prstGeom prst="lin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06440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80644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833872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rot="2700000">
            <a:off x="6739128" y="2596896"/>
            <a:ext cx="109728" cy="109728"/>
          </a:xfrm>
          <a:prstGeom prst="lin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867144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867144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6894576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Aggregator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 rot="2700000">
            <a:off x="7799832" y="2596896"/>
            <a:ext cx="109728" cy="109728"/>
          </a:xfrm>
          <a:prstGeom prst="lin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927848" y="2103120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927848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7955280" y="2560320"/>
            <a:ext cx="859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02920" y="3383280"/>
            <a:ext cx="1975104" cy="36576"/>
          </a:xfrm>
          <a:prstGeom prst="rect">
            <a:avLst/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" y="3456432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(Understand)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624328" y="3383280"/>
            <a:ext cx="197510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624328" y="3456432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(Plan)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745736" y="3383280"/>
            <a:ext cx="303580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45736" y="345643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(Execute)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927848" y="3383280"/>
            <a:ext cx="9144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27848" y="3456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이해·계획·판단만 수행하며, 실제 실행은 Executor가 전담한다.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 처리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자연어를 구조화된 데이터로 변환하는 Intent Parser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 · 입력 처리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Parser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→ 구조화된 JSON으로 변환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· 자연어 질문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“AA라인의 BB공정에서 만들어진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웨이퍼의 이번 달 수율을 알려줘”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업무 용어 기반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비정형 표현 허용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시스템 지식 불요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0624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4754880" y="1801368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· 구조화된 JSON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24028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"intent":  "wafer_yield_query",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"line":    "AA",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"process": "BB",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 "yield",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"period":  "2026-05"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· Entity · 기간 · 대상을 추출하여 후속 단계가 다룰 수 있는 데이터 구조로 표준화한다.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>
            <a:off x="5048702" y="786598"/>
            <a:ext cx="2451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Prompt: </a:t>
            </a:r>
          </a:p>
          <a:p>
            <a:r>
              <a:rPr lang="ko-KR" altLang="en-US" sz="900" dirty="0" smtClean="0"/>
              <a:t>사용자 </a:t>
            </a:r>
            <a:r>
              <a:rPr lang="ko-KR" altLang="en-US" sz="900" dirty="0" smtClean="0"/>
              <a:t>의도를 </a:t>
            </a:r>
            <a:r>
              <a:rPr lang="en-US" altLang="ko-KR" sz="900" dirty="0" smtClean="0"/>
              <a:t>Tool </a:t>
            </a:r>
            <a:r>
              <a:rPr lang="ko-KR" altLang="en-US" sz="900" dirty="0" smtClean="0"/>
              <a:t>검색용 </a:t>
            </a:r>
            <a:r>
              <a:rPr lang="en-US" altLang="ko-KR" sz="900" dirty="0" smtClean="0"/>
              <a:t>Query</a:t>
            </a:r>
            <a:r>
              <a:rPr lang="ko-KR" altLang="en-US" sz="900" dirty="0" smtClean="0"/>
              <a:t>로 변환하라</a:t>
            </a:r>
            <a:r>
              <a:rPr lang="en-US" altLang="ko-KR" sz="900" dirty="0" smtClean="0"/>
              <a:t>.</a:t>
            </a:r>
            <a:br>
              <a:rPr lang="en-US" altLang="ko-KR" sz="900" dirty="0" smtClean="0"/>
            </a:br>
            <a:r>
              <a:rPr lang="ko-KR" altLang="en-US" sz="900" dirty="0" smtClean="0"/>
              <a:t>불필요한 </a:t>
            </a:r>
            <a:r>
              <a:rPr lang="en-US" altLang="ko-KR" sz="900" dirty="0" smtClean="0"/>
              <a:t>entity</a:t>
            </a:r>
            <a:r>
              <a:rPr lang="ko-KR" altLang="en-US" sz="900" dirty="0" smtClean="0"/>
              <a:t>와 기간은 제거하라</a:t>
            </a:r>
            <a:r>
              <a:rPr lang="en-US" altLang="ko-KR" sz="900" dirty="0" smtClean="0"/>
              <a:t>.</a:t>
            </a:r>
          </a:p>
          <a:p>
            <a:endParaRPr lang="en-US" altLang="ko-KR" sz="900" dirty="0" smtClean="0"/>
          </a:p>
          <a:p>
            <a:r>
              <a:rPr lang="en-US" altLang="ko-KR" sz="900" dirty="0" smtClean="0"/>
              <a:t>Result:</a:t>
            </a: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en-US" altLang="ko-KR" sz="900" dirty="0" smtClean="0"/>
              <a:t>wafer yield process analytics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탐색 및 계획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100여개 MCP 중 필요한 Tool만 골라내고 실행 계획을 수립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 · TOOL 선택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Retrieval — RAG 검색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MCP 중 관련성 높은 후보만 추출하여 Context 절감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Embedding 대상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Tool Metadata를 임베딩하여 Vector DB에 저장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260604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6060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tool_name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60320" y="260604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26060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301752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017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60320" y="301752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30175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Query 예시: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“wafer yield AA line BB process monthly”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9204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 Retrieval 결과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9204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유사도(score) 기반 상위 후보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2606040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2606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wafer_yield_query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89520" y="2606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892040" y="3063240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process_defect_query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589520" y="3063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0.81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892040" y="3520440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equipment_alarm_history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589520" y="35204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0.63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Tool을 LLM에 전달하지 않고, RAG로 후보를 좁혀 토큰 비용과 오선택을 동시에 줄인다.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 · TOOL 선택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Tool Planning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후보를 받아 실행 계획(Plan) 생성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Planner의 책임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Tool을 사용할지 선택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순서로 호출할지 결정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간 의존성(depends_on) 정의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단계별 입력 인자 명세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형식으로만 응답 (parsing 안정성)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OUTPUT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92040" y="2194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"plan":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    "step1",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"tool":   "process_master_query",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"reason": "BB 공정 ID 조회"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    "step2",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"tool":   "wafer_yield_query",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"depends_on": ["step1"]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“무엇을 어떻게 할지”만 선언하고, 직접 호출하지 않는다 — 책임 분리.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엔진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DAG 기반 병렬 실행 · 의존성 관리 · 신뢰성 확보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 · 실행 엔진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DAG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의존 관계 그래프로 실행 순서 시각화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의존 — Linear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463040" y="23317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6304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step1: process_master_query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4028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63040" y="310896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step2: wafer_yield_query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 호출 — 이전 결과를 다음 단계 입력으로 전달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1801368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의존 — Parallel + Join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80760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120640" y="288036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2880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040880" y="288036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40880" y="2880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80760" y="347472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0760" y="3474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 flipH="1">
            <a:off x="5669280" y="2633472"/>
            <a:ext cx="594360" cy="246888"/>
          </a:xfrm>
          <a:prstGeom prst="line">
            <a:avLst/>
          </a:prstGeom>
          <a:noFill/>
          <a:ln w="12700">
            <a:solidFill>
              <a:srgbClr val="A1A1A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95160" y="2633472"/>
            <a:ext cx="594360" cy="246888"/>
          </a:xfrm>
          <a:prstGeom prst="line">
            <a:avLst/>
          </a:prstGeom>
          <a:noFill/>
          <a:ln w="12700">
            <a:solidFill>
              <a:srgbClr val="A1A1A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0" y="3227832"/>
            <a:ext cx="777240" cy="246888"/>
          </a:xfrm>
          <a:prstGeom prst="line">
            <a:avLst/>
          </a:prstGeom>
          <a:noFill/>
          <a:ln w="12700">
            <a:solidFill>
              <a:srgbClr val="A1A1A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H="1">
            <a:off x="6851500" y="3227832"/>
            <a:ext cx="738020" cy="246888"/>
          </a:xfrm>
          <a:prstGeom prst="line">
            <a:avLst/>
          </a:prstGeom>
          <a:noFill/>
          <a:ln w="12700">
            <a:solidFill>
              <a:srgbClr val="A1A1A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step2·step3 병렬 실행 후 step4에서 합류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DAG로 표현하면 병렬 실행이 가능하고, 장애 지점 추적·재실행이 명확해진다.</a:t>
            </a:r>
            <a:endParaRPr lang="en-US" sz="1100" dirty="0"/>
          </a:p>
        </p:txBody>
      </p:sp>
      <p:sp>
        <p:nvSpPr>
          <p:cNvPr id="35" name="TextBox 34"/>
          <p:cNvSpPr txBox="1"/>
          <p:nvPr/>
        </p:nvSpPr>
        <p:spPr>
          <a:xfrm>
            <a:off x="3109228" y="988072"/>
            <a:ext cx="292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방향성 </a:t>
            </a:r>
            <a:r>
              <a:rPr lang="ko-KR" altLang="en-US" dirty="0" err="1" smtClean="0"/>
              <a:t>비순환</a:t>
            </a:r>
            <a:r>
              <a:rPr lang="ko-KR" altLang="en-US" dirty="0" smtClean="0"/>
              <a:t> 그래프</a:t>
            </a:r>
            <a:r>
              <a:rPr lang="en-US" altLang="ko-KR" dirty="0" smtClean="0"/>
              <a:t>(DAG)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 · 실행 엔진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 Engine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Plan을 받아 실제 MCP를 호출하는 런타임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01368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938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Dependency 관리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depends_on 기반 실행 순서 보장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73552" y="1801368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73552" y="1801368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938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56432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단계는 동시에 호출하여 지연 단축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98464" y="1801368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98464" y="1801368"/>
            <a:ext cx="54864" cy="1143000"/>
          </a:xfrm>
          <a:prstGeom prst="rect">
            <a:avLst/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81344" y="19385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&amp; Timeout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81344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장애에 대한 재시도, 무한대기 차단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06324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Permission Check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사용자/조직 권한 기반 Tool 접근 제어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73552" y="30632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73552" y="3063240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Variable Reference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456432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$step1.data.process_id 형태의 결과 주입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98464" y="30632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998464" y="3063240"/>
            <a:ext cx="54864" cy="1143000"/>
          </a:xfrm>
          <a:prstGeom prst="rect">
            <a:avLst/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81344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181344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사용된 Tool · 입력 · 출력 · 지연시간 기록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실행하지 않는다 — Executor가 안정성·관측성·보안을 모두 담당한다.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 · 실행 엔진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호출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Registry를 통해 실제 Tool Endpoint 호출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874520"/>
            <a:ext cx="640080" cy="310896"/>
          </a:xfrm>
          <a:prstGeom prst="roundRect">
            <a:avLst>
              <a:gd name="adj" fmla="val 11765"/>
            </a:avLst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8745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17320" y="18013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/mcp/wafer_yield_query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395728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"process_id": "PROC-BB-001",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"period":     "2026-05"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395728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9204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80960" y="246888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9204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"yield":        97.32,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"unit":         "%",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"wafer_count":  12840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성공/실패 응답을 표준 스키마로 통일하여 후속 Aggregator가 일관되게 처리한다.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처리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결과 통합·정규화 후 자연어 응답으로 변환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 · 결과 처리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Aggregator → Final Response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Tool 결과를 통합하고 사용자 친화적으로 변환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Step Results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19456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"step1":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"process_id":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"PROC-BB-001"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"step2":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"yield": 97.32,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"unit":  "%"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15468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474720" y="1801368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Aggregated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"line":    "AA",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"process": "BB",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"period":  "2026-05",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"yield":   97.32,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"unit":    "%"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65760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검증 · 단위 통합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탐지 · 중복 제거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8076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400800" y="1801368"/>
            <a:ext cx="2194560" cy="233172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3796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Final Response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37960" y="2240280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AA라인의 BB공정 웨이퍼 이번 달 평균 수율은 97.32%입니다.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분석 대상 웨이퍼 수는 12,840장입니다.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결과를 LLM이 자연어로 매끄럽게 풀어주어 사용자는 “답”만 본다.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128016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828032"/>
            <a:ext cx="8595360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 · 운영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86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고려사항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도입을 위한 추가 설계 요소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01368"/>
            <a:ext cx="26060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88720" y="20025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244144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조직/역할 기반 Tool 접근 제어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데이터 마스킹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협력사 격리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추적(Audit Trail)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73552" y="1801368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73552" y="1801368"/>
            <a:ext cx="26060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56432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913632" y="20025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456432" y="244144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호출 빈도·지연 수집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선택된 Tool 체인 기록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사용량 모니터링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질의 패턴 분석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98464" y="1801368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98464" y="1801368"/>
            <a:ext cx="2606040" cy="73152"/>
          </a:xfrm>
          <a:prstGeom prst="rect">
            <a:avLst/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81344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638544" y="20025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181344" y="244144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· Timeout · Circuit Breaker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 Tool 자동 전환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Approval 게이트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단계 부분 재실행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29768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4297680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 </a:t>
            </a:r>
            <a:r>
              <a:rPr lang="en-US" sz="1100" dirty="0">
                <a:solidFill>
                  <a:srgbClr val="3F3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관측성 · 신뢰성을 처음부터 함께 설계해야 사내 100+ MCP 환경에서 지속 운영이 가능하다.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645920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1508760"/>
            <a:ext cx="1280160" cy="54864"/>
          </a:xfrm>
          <a:prstGeom prst="rect">
            <a:avLst/>
          </a:prstGeom>
          <a:solidFill>
            <a:srgbClr val="FF4B36"/>
          </a:solidFill>
          <a:ln w="12700">
            <a:solidFill>
              <a:srgbClr val="FF4B3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철학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모든 것을 직접 수행하지 않는다.</a:t>
            </a:r>
            <a:endParaRPr lang="en-US" sz="15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이해 · 계획 · 판단만, 실제 실행은 Executor가 담당한다.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371600" y="31546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27272A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관점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0" y="3520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한 줄로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시스템 전체 활용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0" y="31546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27272A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관점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3520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확장·재사용·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안정성·감사 체계 확보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UTCloud  ·  AI Agent Architecture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1264</Words>
  <Application>Microsoft Office PowerPoint</Application>
  <PresentationFormat>화면 슬라이드 쇼(16:9)</PresentationFormat>
  <Paragraphs>317</Paragraphs>
  <Slides>18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UTCloud MCP Agent 시스템</dc:title>
  <dc:subject>PptxGenJS Presentation</dc:subject>
  <dc:creator>PptxGenJS</dc:creator>
  <cp:lastModifiedBy>bluedove</cp:lastModifiedBy>
  <cp:revision>4</cp:revision>
  <dcterms:created xsi:type="dcterms:W3CDTF">2026-05-06T11:34:38Z</dcterms:created>
  <dcterms:modified xsi:type="dcterms:W3CDTF">2026-05-06T13:02:37Z</dcterms:modified>
</cp:coreProperties>
</file>